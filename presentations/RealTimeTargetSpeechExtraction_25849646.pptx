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Raleway"/>
      <p:regular r:id="rId10"/>
      <p:bold r:id="rId11"/>
      <p:italic r:id="rId12"/>
      <p:boldItalic r:id="rId13"/>
    </p:embeddedFont>
    <p:embeddedFont>
      <p:font typeface="Inter SemiBold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  <p:embeddedFont>
      <p:font typeface="Inter"/>
      <p:bold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font" Target="fonts/Raleway-bold.fntdata"/><Relationship Id="rId22" Type="http://schemas.openxmlformats.org/officeDocument/2006/relationships/font" Target="fonts/Inter-bold.fntdata"/><Relationship Id="rId10" Type="http://schemas.openxmlformats.org/officeDocument/2006/relationships/font" Target="fonts/Raleway-regular.fntdata"/><Relationship Id="rId21" Type="http://schemas.openxmlformats.org/officeDocument/2006/relationships/font" Target="fonts/Lato-boldItalic.fntdata"/><Relationship Id="rId13" Type="http://schemas.openxmlformats.org/officeDocument/2006/relationships/font" Target="fonts/Raleway-boldItalic.fntdata"/><Relationship Id="rId12" Type="http://schemas.openxmlformats.org/officeDocument/2006/relationships/font" Target="fonts/Raleway-italic.fntdata"/><Relationship Id="rId23" Type="http://schemas.openxmlformats.org/officeDocument/2006/relationships/font" Target="fonts/Inter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SemiBold-bold.fntdata"/><Relationship Id="rId14" Type="http://schemas.openxmlformats.org/officeDocument/2006/relationships/font" Target="fonts/InterSemiBold-regular.fntdata"/><Relationship Id="rId17" Type="http://schemas.openxmlformats.org/officeDocument/2006/relationships/font" Target="fonts/InterSemiBold-boldItalic.fntdata"/><Relationship Id="rId16" Type="http://schemas.openxmlformats.org/officeDocument/2006/relationships/font" Target="fonts/InterSemiBold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.fntdata"/><Relationship Id="rId6" Type="http://schemas.openxmlformats.org/officeDocument/2006/relationships/slide" Target="slides/slide1.xml"/><Relationship Id="rId18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b72ba57d3_2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fb72ba57d3_2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b72ba57d3_2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fb72ba57d3_2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b72ba57d3_2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fb72ba57d3_2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b72ba57d3_63_10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fb72ba57d3_63_10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b72ba57d3_18_0)">
  <p:cSld name="Generated (g3fb72ba57d3_18_0)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3" y="3243263"/>
            <a:ext cx="3838500" cy="1743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" name="Google Shape;88;p14"/>
          <p:cNvGrpSpPr/>
          <p:nvPr/>
        </p:nvGrpSpPr>
        <p:grpSpPr>
          <a:xfrm>
            <a:off x="8001000" y="0"/>
            <a:ext cx="1143000" cy="1524000"/>
            <a:chOff x="8001000" y="0"/>
            <a:chExt cx="1143000" cy="1524000"/>
          </a:xfrm>
        </p:grpSpPr>
        <p:sp>
          <p:nvSpPr>
            <p:cNvPr id="89" name="Google Shape;89;p14"/>
            <p:cNvSpPr/>
            <p:nvPr/>
          </p:nvSpPr>
          <p:spPr>
            <a:xfrm>
              <a:off x="8001000" y="0"/>
              <a:ext cx="1143000" cy="1143000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120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1421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4"/>
            <p:cNvSpPr/>
            <p:nvPr/>
          </p:nvSpPr>
          <p:spPr>
            <a:xfrm>
              <a:off x="8763000" y="1143000"/>
              <a:ext cx="381000" cy="381000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120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63EB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91" name="Google Shape;9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24000"/>
            <a:ext cx="57300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762000" y="1476375"/>
            <a:ext cx="704850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Real-time </a:t>
            </a:r>
            <a:r>
              <a:rPr b="1" lang="en" sz="3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Target Speech Extraction</a:t>
            </a:r>
            <a:endParaRPr b="1" sz="36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2000">
                <a:solidFill>
                  <a:srgbClr val="5B142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MSc in Machine Learning &amp; AI, Stellenbosch University, Smart Oper</a:t>
            </a:r>
            <a:r>
              <a:rPr lang="en" sz="2000">
                <a:solidFill>
                  <a:srgbClr val="5B142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ator</a:t>
            </a:r>
            <a:endParaRPr b="0" sz="2000">
              <a:solidFill>
                <a:srgbClr val="5B142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93" name="Google Shape;93;p14"/>
          <p:cNvGrpSpPr/>
          <p:nvPr/>
        </p:nvGrpSpPr>
        <p:grpSpPr>
          <a:xfrm>
            <a:off x="762000" y="4000500"/>
            <a:ext cx="3429000" cy="609600"/>
            <a:chOff x="0" y="0"/>
            <a:chExt cx="3429000" cy="609600"/>
          </a:xfrm>
        </p:grpSpPr>
        <p:sp>
          <p:nvSpPr>
            <p:cNvPr id="94" name="Google Shape;94;p14"/>
            <p:cNvSpPr/>
            <p:nvPr/>
          </p:nvSpPr>
          <p:spPr>
            <a:xfrm>
              <a:off x="0" y="0"/>
              <a:ext cx="3429000" cy="609600"/>
            </a:xfrm>
            <a:prstGeom prst="roundRect">
              <a:avLst>
                <a:gd fmla="val 9375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4"/>
            <p:cNvSpPr/>
            <p:nvPr/>
          </p:nvSpPr>
          <p:spPr>
            <a:xfrm>
              <a:off x="0" y="0"/>
              <a:ext cx="38100" cy="6096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4"/>
            <p:cNvSpPr txBox="1"/>
            <p:nvPr/>
          </p:nvSpPr>
          <p:spPr>
            <a:xfrm>
              <a:off x="190500" y="114300"/>
              <a:ext cx="30480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Grant Booysen</a:t>
              </a:r>
              <a:endParaRPr b="0" sz="110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25849646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15"/>
          <p:cNvGrpSpPr/>
          <p:nvPr/>
        </p:nvGrpSpPr>
        <p:grpSpPr>
          <a:xfrm>
            <a:off x="8572500" y="-571500"/>
            <a:ext cx="571500" cy="762000"/>
            <a:chOff x="8001000" y="0"/>
            <a:chExt cx="1143000" cy="1524000"/>
          </a:xfrm>
        </p:grpSpPr>
        <p:sp>
          <p:nvSpPr>
            <p:cNvPr id="102" name="Google Shape;102;p15"/>
            <p:cNvSpPr/>
            <p:nvPr/>
          </p:nvSpPr>
          <p:spPr>
            <a:xfrm>
              <a:off x="8001000" y="0"/>
              <a:ext cx="1143000" cy="1143000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120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1421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5"/>
            <p:cNvSpPr/>
            <p:nvPr/>
          </p:nvSpPr>
          <p:spPr>
            <a:xfrm>
              <a:off x="8763000" y="1143000"/>
              <a:ext cx="381000" cy="381000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120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63EB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" name="Google Shape;104;p15"/>
          <p:cNvSpPr txBox="1"/>
          <p:nvPr/>
        </p:nvSpPr>
        <p:spPr>
          <a:xfrm>
            <a:off x="381000" y="3048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Context of the Problem</a:t>
            </a:r>
            <a:endParaRPr b="1" sz="28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5" name="Google Shape;1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914400"/>
            <a:ext cx="8382000" cy="1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6" name="Google Shape;106;p15"/>
          <p:cNvGrpSpPr/>
          <p:nvPr/>
        </p:nvGrpSpPr>
        <p:grpSpPr>
          <a:xfrm>
            <a:off x="381000" y="1238250"/>
            <a:ext cx="2610000" cy="3333900"/>
            <a:chOff x="0" y="0"/>
            <a:chExt cx="2610000" cy="3333900"/>
          </a:xfrm>
        </p:grpSpPr>
        <p:sp>
          <p:nvSpPr>
            <p:cNvPr id="107" name="Google Shape;107;p15"/>
            <p:cNvSpPr/>
            <p:nvPr/>
          </p:nvSpPr>
          <p:spPr>
            <a:xfrm>
              <a:off x="0" y="0"/>
              <a:ext cx="2610000" cy="3333900"/>
            </a:xfrm>
            <a:prstGeom prst="roundRect">
              <a:avLst>
                <a:gd fmla="val 2919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5"/>
            <p:cNvSpPr/>
            <p:nvPr/>
          </p:nvSpPr>
          <p:spPr>
            <a:xfrm>
              <a:off x="0" y="0"/>
              <a:ext cx="2610000" cy="381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5"/>
            <p:cNvSpPr txBox="1"/>
            <p:nvPr/>
          </p:nvSpPr>
          <p:spPr>
            <a:xfrm>
              <a:off x="228600" y="266700"/>
              <a:ext cx="2152800" cy="280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01 / HUMAN FOCUS</a:t>
              </a:r>
              <a:endParaRPr b="1" sz="10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5B142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Innate Human Ability</a:t>
              </a:r>
              <a:endParaRPr b="0" sz="1600">
                <a:solidFill>
                  <a:srgbClr val="5B142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Humans naturally focus on a single speaker in noisy environments, like a crowded restaurant.</a:t>
              </a:r>
              <a:endParaRPr b="0" sz="12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0" name="Google Shape;110;p15"/>
          <p:cNvGrpSpPr/>
          <p:nvPr/>
        </p:nvGrpSpPr>
        <p:grpSpPr>
          <a:xfrm>
            <a:off x="3267075" y="1238250"/>
            <a:ext cx="2610000" cy="3333900"/>
            <a:chOff x="0" y="0"/>
            <a:chExt cx="2610000" cy="3333900"/>
          </a:xfrm>
        </p:grpSpPr>
        <p:sp>
          <p:nvSpPr>
            <p:cNvPr id="111" name="Google Shape;111;p15"/>
            <p:cNvSpPr/>
            <p:nvPr/>
          </p:nvSpPr>
          <p:spPr>
            <a:xfrm>
              <a:off x="0" y="0"/>
              <a:ext cx="2610000" cy="3333900"/>
            </a:xfrm>
            <a:prstGeom prst="roundRect">
              <a:avLst>
                <a:gd fmla="val 2919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0" y="0"/>
              <a:ext cx="2610000" cy="38100"/>
            </a:xfrm>
            <a:prstGeom prst="roundRect">
              <a:avLst>
                <a:gd fmla="val 50000" name="adj"/>
              </a:avLst>
            </a:prstGeom>
            <a:solidFill>
              <a:srgbClr val="5B142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5"/>
            <p:cNvSpPr txBox="1"/>
            <p:nvPr/>
          </p:nvSpPr>
          <p:spPr>
            <a:xfrm>
              <a:off x="228600" y="266700"/>
              <a:ext cx="2152800" cy="280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5B1421"/>
                  </a:solidFill>
                  <a:latin typeface="Inter"/>
                  <a:ea typeface="Inter"/>
                  <a:cs typeface="Inter"/>
                  <a:sym typeface="Inter"/>
                </a:rPr>
                <a:t>02 / EDGE HARDWARE</a:t>
              </a:r>
              <a:endParaRPr b="1" sz="1000">
                <a:solidFill>
                  <a:srgbClr val="5B142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5B142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Edge AI Integration</a:t>
              </a:r>
              <a:endParaRPr b="0" sz="1600">
                <a:solidFill>
                  <a:srgbClr val="5B142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Expanding into everyday devices like smart glasses and hearables to better analyze environmental context.</a:t>
              </a:r>
              <a:endParaRPr b="0" sz="12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4" name="Google Shape;114;p15"/>
          <p:cNvGrpSpPr/>
          <p:nvPr/>
        </p:nvGrpSpPr>
        <p:grpSpPr>
          <a:xfrm>
            <a:off x="6153150" y="1238250"/>
            <a:ext cx="2610000" cy="3333900"/>
            <a:chOff x="0" y="0"/>
            <a:chExt cx="2610000" cy="3333900"/>
          </a:xfrm>
        </p:grpSpPr>
        <p:sp>
          <p:nvSpPr>
            <p:cNvPr id="115" name="Google Shape;115;p15"/>
            <p:cNvSpPr/>
            <p:nvPr/>
          </p:nvSpPr>
          <p:spPr>
            <a:xfrm>
              <a:off x="0" y="0"/>
              <a:ext cx="2610000" cy="3333900"/>
            </a:xfrm>
            <a:prstGeom prst="roundRect">
              <a:avLst>
                <a:gd fmla="val 2919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5"/>
            <p:cNvSpPr/>
            <p:nvPr/>
          </p:nvSpPr>
          <p:spPr>
            <a:xfrm>
              <a:off x="0" y="0"/>
              <a:ext cx="2610000" cy="381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5"/>
            <p:cNvSpPr txBox="1"/>
            <p:nvPr/>
          </p:nvSpPr>
          <p:spPr>
            <a:xfrm>
              <a:off x="228600" y="266700"/>
              <a:ext cx="2152800" cy="280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03 / LIVE EXTRACTION</a:t>
              </a:r>
              <a:endParaRPr b="1" sz="10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5B142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Real-Time AI Transcription</a:t>
              </a:r>
              <a:endParaRPr b="0" sz="1600">
                <a:solidFill>
                  <a:srgbClr val="5B142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Applying extraction to live AI tools (e.g., Gemini Live) for robust voice understanding in chaotic environments.</a:t>
              </a:r>
              <a:endParaRPr b="0" sz="12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118" name="Google Shape;11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7075" y="3184825"/>
            <a:ext cx="2609999" cy="138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53001" y="3184825"/>
            <a:ext cx="2609999" cy="1387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1000" y="3184825"/>
            <a:ext cx="2610000" cy="138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16"/>
          <p:cNvGrpSpPr/>
          <p:nvPr/>
        </p:nvGrpSpPr>
        <p:grpSpPr>
          <a:xfrm>
            <a:off x="8572500" y="-18900"/>
            <a:ext cx="571500" cy="762000"/>
            <a:chOff x="8001000" y="0"/>
            <a:chExt cx="1143000" cy="1524000"/>
          </a:xfrm>
        </p:grpSpPr>
        <p:sp>
          <p:nvSpPr>
            <p:cNvPr id="126" name="Google Shape;126;p16"/>
            <p:cNvSpPr/>
            <p:nvPr/>
          </p:nvSpPr>
          <p:spPr>
            <a:xfrm>
              <a:off x="8001000" y="0"/>
              <a:ext cx="1143000" cy="1143000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120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1421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6"/>
            <p:cNvSpPr/>
            <p:nvPr/>
          </p:nvSpPr>
          <p:spPr>
            <a:xfrm>
              <a:off x="8763000" y="1143000"/>
              <a:ext cx="381000" cy="381000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120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63EB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8" name="Google Shape;128;p16"/>
          <p:cNvSpPr txBox="1"/>
          <p:nvPr/>
        </p:nvSpPr>
        <p:spPr>
          <a:xfrm>
            <a:off x="381000" y="304800"/>
            <a:ext cx="8382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Problem Formulation</a:t>
            </a:r>
            <a:endParaRPr b="1" i="0" sz="2800" u="none" strike="noStrike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9" name="Google Shape;12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876300"/>
            <a:ext cx="8382000" cy="1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" name="Google Shape;130;p16"/>
          <p:cNvGrpSpPr/>
          <p:nvPr/>
        </p:nvGrpSpPr>
        <p:grpSpPr>
          <a:xfrm>
            <a:off x="405430" y="1028700"/>
            <a:ext cx="8357692" cy="609600"/>
            <a:chOff x="381000" y="1028700"/>
            <a:chExt cx="8382000" cy="609600"/>
          </a:xfrm>
        </p:grpSpPr>
        <p:sp>
          <p:nvSpPr>
            <p:cNvPr id="131" name="Google Shape;131;p16"/>
            <p:cNvSpPr/>
            <p:nvPr/>
          </p:nvSpPr>
          <p:spPr>
            <a:xfrm>
              <a:off x="381000" y="1028700"/>
              <a:ext cx="8382000" cy="609600"/>
            </a:xfrm>
            <a:prstGeom prst="roundRect">
              <a:avLst>
                <a:gd fmla="val 9375" name="adj"/>
              </a:avLst>
            </a:prstGeom>
            <a:solidFill>
              <a:srgbClr val="DBEA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6"/>
            <p:cNvSpPr/>
            <p:nvPr/>
          </p:nvSpPr>
          <p:spPr>
            <a:xfrm>
              <a:off x="381000" y="1028700"/>
              <a:ext cx="57300" cy="609600"/>
            </a:xfrm>
            <a:prstGeom prst="roundRect">
              <a:avLst>
                <a:gd fmla="val 50000" name="adj"/>
              </a:avLst>
            </a:prstGeom>
            <a:solidFill>
              <a:srgbClr val="5B142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6"/>
            <p:cNvSpPr txBox="1"/>
            <p:nvPr/>
          </p:nvSpPr>
          <p:spPr>
            <a:xfrm>
              <a:off x="571500" y="1104900"/>
              <a:ext cx="8001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5B1421"/>
                  </a:solidFill>
                  <a:latin typeface="Inter"/>
                  <a:ea typeface="Inter"/>
                  <a:cs typeface="Inter"/>
                  <a:sym typeface="Inter"/>
                </a:rPr>
                <a:t>PROBLEM FORMULATION</a:t>
              </a:r>
              <a:endParaRPr b="1" sz="1000">
                <a:solidFill>
                  <a:srgbClr val="5B142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Mixture Audio = Target Speaker + Interfering Speakers + Background Noise</a:t>
              </a:r>
              <a:endParaRPr b="0" sz="13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134" name="Google Shape;134;p16"/>
          <p:cNvSpPr/>
          <p:nvPr/>
        </p:nvSpPr>
        <p:spPr>
          <a:xfrm>
            <a:off x="4562475" y="1809750"/>
            <a:ext cx="19200" cy="30003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5" name="Google Shape;135;p16"/>
          <p:cNvGrpSpPr/>
          <p:nvPr/>
        </p:nvGrpSpPr>
        <p:grpSpPr>
          <a:xfrm>
            <a:off x="405425" y="1735975"/>
            <a:ext cx="3952800" cy="2040725"/>
            <a:chOff x="381000" y="2209800"/>
            <a:chExt cx="3952800" cy="2040725"/>
          </a:xfrm>
        </p:grpSpPr>
        <p:grpSp>
          <p:nvGrpSpPr>
            <p:cNvPr id="136" name="Google Shape;136;p16"/>
            <p:cNvGrpSpPr/>
            <p:nvPr/>
          </p:nvGrpSpPr>
          <p:grpSpPr>
            <a:xfrm>
              <a:off x="381000" y="2209800"/>
              <a:ext cx="3952800" cy="859350"/>
              <a:chOff x="381000" y="2209800"/>
              <a:chExt cx="3952800" cy="859350"/>
            </a:xfrm>
          </p:grpSpPr>
          <p:sp>
            <p:nvSpPr>
              <p:cNvPr id="137" name="Google Shape;137;p16"/>
              <p:cNvSpPr/>
              <p:nvPr/>
            </p:nvSpPr>
            <p:spPr>
              <a:xfrm>
                <a:off x="381000" y="2209800"/>
                <a:ext cx="47700" cy="726000"/>
              </a:xfrm>
              <a:prstGeom prst="roundRect">
                <a:avLst>
                  <a:gd fmla="val 4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16"/>
              <p:cNvSpPr txBox="1"/>
              <p:nvPr/>
            </p:nvSpPr>
            <p:spPr>
              <a:xfrm>
                <a:off x="571500" y="2343150"/>
                <a:ext cx="3762300" cy="72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TECHNICAL CHALLENGES</a:t>
                </a:r>
                <a:endParaRPr b="1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Transforming speech representations and conditioning models with limited target information.</a:t>
                </a:r>
                <a:endParaRPr b="0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39" name="Google Shape;139;p16"/>
            <p:cNvGrpSpPr/>
            <p:nvPr/>
          </p:nvGrpSpPr>
          <p:grpSpPr>
            <a:xfrm>
              <a:off x="381000" y="3103200"/>
              <a:ext cx="3762300" cy="1147325"/>
              <a:chOff x="381000" y="3103200"/>
              <a:chExt cx="3762300" cy="1147325"/>
            </a:xfrm>
          </p:grpSpPr>
          <p:sp>
            <p:nvSpPr>
              <p:cNvPr id="140" name="Google Shape;140;p16"/>
              <p:cNvSpPr/>
              <p:nvPr/>
            </p:nvSpPr>
            <p:spPr>
              <a:xfrm>
                <a:off x="381000" y="3103200"/>
                <a:ext cx="47700" cy="856200"/>
              </a:xfrm>
              <a:prstGeom prst="roundRect">
                <a:avLst>
                  <a:gd fmla="val 4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16"/>
              <p:cNvSpPr txBox="1"/>
              <p:nvPr/>
            </p:nvSpPr>
            <p:spPr>
              <a:xfrm>
                <a:off x="571500" y="3316925"/>
                <a:ext cx="3571800" cy="93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HARDWARE CONSTRAINTS</a:t>
                </a:r>
                <a:endParaRPr b="1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Balance performance with edge storage limits and strict latency budgets for streaming.</a:t>
                </a:r>
                <a:endParaRPr b="0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42" name="Google Shape;142;p16"/>
          <p:cNvGrpSpPr/>
          <p:nvPr/>
        </p:nvGrpSpPr>
        <p:grpSpPr>
          <a:xfrm>
            <a:off x="405425" y="3603525"/>
            <a:ext cx="3762300" cy="1424400"/>
            <a:chOff x="2373925" y="2465425"/>
            <a:chExt cx="3762300" cy="1424400"/>
          </a:xfrm>
        </p:grpSpPr>
        <p:sp>
          <p:nvSpPr>
            <p:cNvPr id="143" name="Google Shape;143;p16"/>
            <p:cNvSpPr/>
            <p:nvPr/>
          </p:nvSpPr>
          <p:spPr>
            <a:xfrm>
              <a:off x="2373925" y="2465425"/>
              <a:ext cx="54900" cy="1424400"/>
            </a:xfrm>
            <a:prstGeom prst="roundRect">
              <a:avLst>
                <a:gd fmla="val 40000" name="adj"/>
              </a:avLst>
            </a:prstGeom>
            <a:solidFill>
              <a:srgbClr val="5B142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6"/>
            <p:cNvSpPr txBox="1"/>
            <p:nvPr/>
          </p:nvSpPr>
          <p:spPr>
            <a:xfrm>
              <a:off x="2564425" y="2532175"/>
              <a:ext cx="3571800" cy="12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5B1421"/>
                  </a:solidFill>
                  <a:latin typeface="Inter"/>
                  <a:ea typeface="Inter"/>
                  <a:cs typeface="Inter"/>
                  <a:sym typeface="Inter"/>
                </a:rPr>
                <a:t>PRIMARY OBJECTIVE</a:t>
              </a:r>
              <a:endParaRPr b="1" sz="1000">
                <a:solidFill>
                  <a:srgbClr val="5B142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Isolate the target speaker to maximize downstream live AI speech transcription accuracy.</a:t>
              </a:r>
              <a:endParaRPr b="0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Optimize for AI transcription, remain silent when the target isn't speaking, and suppress noise.</a:t>
              </a:r>
              <a:endParaRPr b="0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145" name="Google Shape;145;p16" title="spectrogr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1325" y="1687200"/>
            <a:ext cx="4107725" cy="345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1" name="Google Shape;151;p17"/>
          <p:cNvGrpSpPr/>
          <p:nvPr/>
        </p:nvGrpSpPr>
        <p:grpSpPr>
          <a:xfrm>
            <a:off x="8572500" y="-571500"/>
            <a:ext cx="571500" cy="762000"/>
            <a:chOff x="8001000" y="0"/>
            <a:chExt cx="1143000" cy="1524000"/>
          </a:xfrm>
        </p:grpSpPr>
        <p:sp>
          <p:nvSpPr>
            <p:cNvPr id="152" name="Google Shape;152;p17"/>
            <p:cNvSpPr/>
            <p:nvPr/>
          </p:nvSpPr>
          <p:spPr>
            <a:xfrm>
              <a:off x="8001000" y="0"/>
              <a:ext cx="1143000" cy="1143000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120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1421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7"/>
            <p:cNvSpPr/>
            <p:nvPr/>
          </p:nvSpPr>
          <p:spPr>
            <a:xfrm>
              <a:off x="8763000" y="1143000"/>
              <a:ext cx="381000" cy="381000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120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63EB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4" name="Google Shape;154;p17"/>
          <p:cNvSpPr txBox="1"/>
          <p:nvPr/>
        </p:nvSpPr>
        <p:spPr>
          <a:xfrm>
            <a:off x="381000" y="304800"/>
            <a:ext cx="8382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Current Project State</a:t>
            </a:r>
            <a:endParaRPr b="1" i="0" sz="2800" u="none" strike="noStrike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876300"/>
            <a:ext cx="8382000" cy="1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6" name="Google Shape;156;p17"/>
          <p:cNvGrpSpPr/>
          <p:nvPr/>
        </p:nvGrpSpPr>
        <p:grpSpPr>
          <a:xfrm>
            <a:off x="381000" y="1190625"/>
            <a:ext cx="2610000" cy="3476700"/>
            <a:chOff x="0" y="0"/>
            <a:chExt cx="2610000" cy="3476700"/>
          </a:xfrm>
        </p:grpSpPr>
        <p:sp>
          <p:nvSpPr>
            <p:cNvPr id="157" name="Google Shape;157;p17"/>
            <p:cNvSpPr/>
            <p:nvPr/>
          </p:nvSpPr>
          <p:spPr>
            <a:xfrm>
              <a:off x="0" y="0"/>
              <a:ext cx="2610000" cy="3476700"/>
            </a:xfrm>
            <a:prstGeom prst="roundRect">
              <a:avLst>
                <a:gd fmla="val 4379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7"/>
            <p:cNvSpPr/>
            <p:nvPr/>
          </p:nvSpPr>
          <p:spPr>
            <a:xfrm>
              <a:off x="0" y="0"/>
              <a:ext cx="2610000" cy="573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7"/>
            <p:cNvSpPr/>
            <p:nvPr/>
          </p:nvSpPr>
          <p:spPr>
            <a:xfrm>
              <a:off x="228600" y="228600"/>
              <a:ext cx="419100" cy="419100"/>
            </a:xfrm>
            <a:prstGeom prst="roundRect">
              <a:avLst>
                <a:gd fmla="val 18181" name="adj"/>
              </a:avLst>
            </a:prstGeom>
            <a:solidFill>
              <a:srgbClr val="DBEA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7"/>
            <p:cNvSpPr txBox="1"/>
            <p:nvPr/>
          </p:nvSpPr>
          <p:spPr>
            <a:xfrm>
              <a:off x="228600" y="260731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storage</a:t>
              </a:r>
              <a:endParaRPr sz="22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61" name="Google Shape;161;p17"/>
            <p:cNvSpPr txBox="1"/>
            <p:nvPr/>
          </p:nvSpPr>
          <p:spPr>
            <a:xfrm>
              <a:off x="228600" y="762000"/>
              <a:ext cx="21528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01 // PILLAR</a:t>
              </a:r>
              <a:endParaRPr b="1" sz="9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Dataset Construction</a:t>
              </a:r>
              <a:endParaRPr b="1" sz="1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Building a dedicated dataset for realistic, noisy multi-speaker use cases.</a:t>
              </a:r>
              <a:endParaRPr b="0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64748B"/>
                </a:buClr>
                <a:buSzPts val="1050"/>
                <a:buFont typeface="Inter"/>
                <a:buChar char="●"/>
              </a:pPr>
              <a:r>
                <a:rPr lang="en" sz="10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Multi-speaker mix scenarios</a:t>
              </a:r>
              <a:endParaRPr sz="10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64748B"/>
                </a:buClr>
                <a:buSzPts val="1050"/>
                <a:buFont typeface="Inter"/>
                <a:buChar char="●"/>
              </a:pPr>
              <a:r>
                <a:rPr lang="en" sz="10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Controlled acoustic noise</a:t>
              </a:r>
              <a:endParaRPr sz="10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64748B"/>
                </a:buClr>
                <a:buSzPts val="1050"/>
                <a:buFont typeface="Inter"/>
                <a:buChar char="●"/>
              </a:pPr>
              <a:r>
                <a:rPr lang="en" sz="10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Realistic speech benchmarks</a:t>
              </a:r>
              <a:endParaRPr sz="10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2" name="Google Shape;162;p17"/>
          <p:cNvGrpSpPr/>
          <p:nvPr/>
        </p:nvGrpSpPr>
        <p:grpSpPr>
          <a:xfrm>
            <a:off x="3267075" y="1190625"/>
            <a:ext cx="2610000" cy="3476700"/>
            <a:chOff x="0" y="0"/>
            <a:chExt cx="2610000" cy="3476700"/>
          </a:xfrm>
        </p:grpSpPr>
        <p:sp>
          <p:nvSpPr>
            <p:cNvPr id="163" name="Google Shape;163;p17"/>
            <p:cNvSpPr/>
            <p:nvPr/>
          </p:nvSpPr>
          <p:spPr>
            <a:xfrm>
              <a:off x="0" y="0"/>
              <a:ext cx="2610000" cy="3476700"/>
            </a:xfrm>
            <a:prstGeom prst="roundRect">
              <a:avLst>
                <a:gd fmla="val 4379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7"/>
            <p:cNvSpPr/>
            <p:nvPr/>
          </p:nvSpPr>
          <p:spPr>
            <a:xfrm>
              <a:off x="0" y="0"/>
              <a:ext cx="2610000" cy="57300"/>
            </a:xfrm>
            <a:prstGeom prst="roundRect">
              <a:avLst>
                <a:gd fmla="val 50000" name="adj"/>
              </a:avLst>
            </a:prstGeom>
            <a:solidFill>
              <a:srgbClr val="5B142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7"/>
            <p:cNvSpPr/>
            <p:nvPr/>
          </p:nvSpPr>
          <p:spPr>
            <a:xfrm>
              <a:off x="228600" y="228600"/>
              <a:ext cx="419100" cy="419100"/>
            </a:xfrm>
            <a:prstGeom prst="roundRect">
              <a:avLst>
                <a:gd fmla="val 18181" name="adj"/>
              </a:avLst>
            </a:prstGeom>
            <a:solidFill>
              <a:srgbClr val="FCE7F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7"/>
            <p:cNvSpPr txBox="1"/>
            <p:nvPr/>
          </p:nvSpPr>
          <p:spPr>
            <a:xfrm>
              <a:off x="228600" y="260731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solidFill>
                    <a:srgbClr val="5B142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graphic_eq</a:t>
              </a:r>
              <a:endParaRPr sz="2200">
                <a:solidFill>
                  <a:srgbClr val="5B142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67" name="Google Shape;167;p17"/>
            <p:cNvSpPr txBox="1"/>
            <p:nvPr/>
          </p:nvSpPr>
          <p:spPr>
            <a:xfrm>
              <a:off x="228600" y="762000"/>
              <a:ext cx="21528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5B1421"/>
                  </a:solidFill>
                  <a:latin typeface="Inter"/>
                  <a:ea typeface="Inter"/>
                  <a:cs typeface="Inter"/>
                  <a:sym typeface="Inter"/>
                </a:rPr>
                <a:t>02 // PILLAR</a:t>
              </a:r>
              <a:endParaRPr b="1" sz="950">
                <a:solidFill>
                  <a:srgbClr val="5B142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Baseline Signal Extraction</a:t>
              </a:r>
              <a:endParaRPr b="1" sz="1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Evaluating architectures that mask mixture audio to establish baselines.</a:t>
              </a:r>
              <a:endParaRPr b="0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64748B"/>
                </a:buClr>
                <a:buSzPts val="1050"/>
                <a:buFont typeface="Inter"/>
                <a:buChar char="●"/>
              </a:pPr>
              <a:r>
                <a:rPr lang="en" sz="10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Target speech isolation</a:t>
              </a:r>
              <a:endParaRPr sz="10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64748B"/>
                </a:buClr>
                <a:buSzPts val="1050"/>
                <a:buFont typeface="Inter"/>
                <a:buChar char="●"/>
              </a:pPr>
              <a:r>
                <a:rPr lang="en" sz="10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Time-domain masking</a:t>
              </a:r>
              <a:endParaRPr sz="10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64748B"/>
                </a:buClr>
                <a:buSzPts val="1050"/>
                <a:buFont typeface="Inter"/>
                <a:buChar char="●"/>
              </a:pPr>
              <a:r>
                <a:rPr lang="en" sz="10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Baseline performance curves</a:t>
              </a:r>
              <a:endParaRPr sz="10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8" name="Google Shape;168;p17"/>
          <p:cNvGrpSpPr/>
          <p:nvPr/>
        </p:nvGrpSpPr>
        <p:grpSpPr>
          <a:xfrm>
            <a:off x="6153150" y="1190625"/>
            <a:ext cx="2610000" cy="3476700"/>
            <a:chOff x="0" y="0"/>
            <a:chExt cx="2610000" cy="3476700"/>
          </a:xfrm>
        </p:grpSpPr>
        <p:sp>
          <p:nvSpPr>
            <p:cNvPr id="169" name="Google Shape;169;p17"/>
            <p:cNvSpPr/>
            <p:nvPr/>
          </p:nvSpPr>
          <p:spPr>
            <a:xfrm>
              <a:off x="0" y="0"/>
              <a:ext cx="2610000" cy="3476700"/>
            </a:xfrm>
            <a:prstGeom prst="roundRect">
              <a:avLst>
                <a:gd fmla="val 4379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7"/>
            <p:cNvSpPr/>
            <p:nvPr/>
          </p:nvSpPr>
          <p:spPr>
            <a:xfrm>
              <a:off x="0" y="0"/>
              <a:ext cx="2610000" cy="573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7"/>
            <p:cNvSpPr/>
            <p:nvPr/>
          </p:nvSpPr>
          <p:spPr>
            <a:xfrm>
              <a:off x="228600" y="228600"/>
              <a:ext cx="419100" cy="419100"/>
            </a:xfrm>
            <a:prstGeom prst="roundRect">
              <a:avLst>
                <a:gd fmla="val 18181" name="adj"/>
              </a:avLst>
            </a:prstGeom>
            <a:solidFill>
              <a:srgbClr val="DBEA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7"/>
            <p:cNvSpPr txBox="1"/>
            <p:nvPr/>
          </p:nvSpPr>
          <p:spPr>
            <a:xfrm>
              <a:off x="228600" y="260731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analytics</a:t>
              </a:r>
              <a:endParaRPr sz="22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73" name="Google Shape;173;p17"/>
            <p:cNvSpPr txBox="1"/>
            <p:nvPr/>
          </p:nvSpPr>
          <p:spPr>
            <a:xfrm>
              <a:off x="228600" y="762000"/>
              <a:ext cx="21528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03 // PILLAR</a:t>
              </a:r>
              <a:endParaRPr b="1" sz="9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Holistic Metric Suite</a:t>
              </a:r>
              <a:endParaRPr b="1" sz="1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Developing evaluation metrics tailored for speech transcription performance.</a:t>
              </a:r>
              <a:endParaRPr b="0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1050"/>
                </a:spcBef>
                <a:spcAft>
                  <a:spcPts val="0"/>
                </a:spcAft>
                <a:buClr>
                  <a:srgbClr val="64748B"/>
                </a:buClr>
                <a:buSzPts val="1000"/>
                <a:buFont typeface="Inter"/>
                <a:buChar char="●"/>
              </a:pPr>
              <a:r>
                <a:rPr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AI hallucination tracking</a:t>
              </a:r>
              <a:endParaRPr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64748B"/>
                </a:buClr>
                <a:buSzPts val="1000"/>
                <a:buFont typeface="Inter"/>
                <a:buChar char="●"/>
              </a:pPr>
              <a:r>
                <a:rPr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Interference leakage</a:t>
              </a:r>
              <a:endParaRPr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64748B"/>
                </a:buClr>
                <a:buSzPts val="1000"/>
                <a:buFont typeface="Inter"/>
                <a:buChar char="●"/>
              </a:pPr>
              <a:r>
                <a:rPr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Streaming latency budgets</a:t>
              </a:r>
              <a:endParaRPr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64748B"/>
                </a:buClr>
                <a:buSzPts val="1000"/>
                <a:buFont typeface="Inter"/>
                <a:buChar char="●"/>
              </a:pPr>
              <a:r>
                <a:rPr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Perceptual audio quality</a:t>
              </a:r>
              <a:endParaRPr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